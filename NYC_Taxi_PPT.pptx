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2"/>
  </p:notesMasterIdLst>
  <p:sldIdLst>
    <p:sldId id="256" r:id="rId3"/>
    <p:sldId id="264" r:id="rId4"/>
    <p:sldId id="259" r:id="rId5"/>
    <p:sldId id="260" r:id="rId6"/>
    <p:sldId id="257" r:id="rId7"/>
    <p:sldId id="261" r:id="rId8"/>
    <p:sldId id="265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86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BA15-21B6-2643-D483-CEF049B5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14535-1458-40EE-4AA9-5D6EC0DE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7FF04-F110-C486-9CA8-201A9768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A85FD-4055-2ED3-AA59-47F40F6F8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9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484" y="1597819"/>
            <a:ext cx="5830818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68" y="2914650"/>
            <a:ext cx="480185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8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4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76" y="3305176"/>
            <a:ext cx="5830818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76" y="2180035"/>
            <a:ext cx="5830818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8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89" y="1200151"/>
            <a:ext cx="3029739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7058" y="1200151"/>
            <a:ext cx="3029739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151335"/>
            <a:ext cx="3030930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89" y="1631156"/>
            <a:ext cx="3030930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677" y="1151335"/>
            <a:ext cx="303212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677" y="1631156"/>
            <a:ext cx="303212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3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9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5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90" y="204787"/>
            <a:ext cx="2256822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986" y="204788"/>
            <a:ext cx="383481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90" y="1076326"/>
            <a:ext cx="2256822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0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566" y="3600450"/>
            <a:ext cx="4115872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566" y="459581"/>
            <a:ext cx="4115872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566" y="4025503"/>
            <a:ext cx="4115872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3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17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345" y="205979"/>
            <a:ext cx="1543452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89" y="205979"/>
            <a:ext cx="4516026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3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89" y="205979"/>
            <a:ext cx="617380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200151"/>
            <a:ext cx="6173808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0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🚕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2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NYC TAXI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– Microsoft Fabric End-to-End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00" cy="36576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Anant Deotale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824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Green Taxi · 76.5M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•  Power BI  •  Lakehouse  •  Star Schema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48640"/>
          </a:xfrm>
          <a:prstGeom prst="rect">
            <a:avLst/>
          </a:prstGeom>
          <a:solidFill>
            <a:srgbClr val="123A6E"/>
          </a:solidFill>
          <a:ln>
            <a:solidFill>
              <a:srgbClr val="1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sz="2100" b="1">
                <a:solidFill>
                  <a:srgbClr val="FFD700"/>
                </a:solidFill>
                <a:latin typeface="Calibri"/>
              </a:rPr>
              <a:t>NYC TAXI DATASET – DATA QUALITY &amp;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5511" y="651510"/>
            <a:ext cx="8366760" cy="377190"/>
          </a:xfrm>
          <a:prstGeom prst="roundRect">
            <a:avLst/>
          </a:prstGeom>
          <a:solidFill>
            <a:srgbClr val="185C31"/>
          </a:solidFill>
          <a:ln>
            <a:solidFill>
              <a:srgbClr val="32D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 sz="1800" b="1">
                <a:solidFill>
                  <a:srgbClr val="DCFFDC"/>
                </a:solidFill>
              </a:defRPr>
            </a:pPr>
            <a:r>
              <a:rPr sz="1350" b="1">
                <a:solidFill>
                  <a:srgbClr val="DCFFDC"/>
                </a:solidFill>
                <a:latin typeface="Calibri"/>
              </a:rPr>
              <a:t>76.5M Rows • 23 Columns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5511" y="123444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lang="en-IN" sz="900">
                <a:solidFill>
                  <a:srgbClr val="FFFF00"/>
                </a:solidFill>
                <a:latin typeface="Calibri"/>
              </a:rPr>
              <a:t>“IpepPickupDateTime” , “</a:t>
            </a:r>
            <a:r>
              <a:rPr lang="en-IN" sz="900">
                <a:solidFill>
                  <a:srgbClr val="FFFF00"/>
                </a:solidFill>
              </a:rPr>
              <a:t>IpepDropoff” DateTime “</a:t>
            </a:r>
            <a:r>
              <a:rPr lang="en-IN" sz="900">
                <a:solidFill>
                  <a:srgbClr val="F0F0F0"/>
                </a:solidFill>
              </a:rPr>
              <a:t> Column </a:t>
            </a:r>
            <a:r>
              <a:rPr lang="en-IN" sz="900">
                <a:solidFill>
                  <a:srgbClr val="F0F0F0"/>
                </a:solidFill>
                <a:latin typeface="Calibri"/>
              </a:rPr>
              <a:t>maximum Year was 2081 ,2031…</a:t>
            </a:r>
            <a:endParaRPr sz="900">
              <a:solidFill>
                <a:srgbClr val="F0F0F0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87291" y="123444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lang="en-IN" sz="900">
                <a:solidFill>
                  <a:srgbClr val="FFFF00"/>
                </a:solidFill>
                <a:latin typeface="Calibri"/>
              </a:rPr>
              <a:t>“improvementSurcharge” </a:t>
            </a:r>
            <a:r>
              <a:rPr lang="en-IN" sz="900">
                <a:solidFill>
                  <a:srgbClr val="F0F0F0"/>
                </a:solidFill>
                <a:latin typeface="Calibri"/>
              </a:rPr>
              <a:t>column was in string form</a:t>
            </a:r>
            <a:endParaRPr sz="900">
              <a:solidFill>
                <a:srgbClr val="F0F0F0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99071" y="123444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lang="en-IN" sz="900">
                <a:solidFill>
                  <a:srgbClr val="FFFF00"/>
                </a:solidFill>
                <a:latin typeface="Calibri"/>
              </a:rPr>
              <a:t>“tripDistance” </a:t>
            </a:r>
            <a:r>
              <a:rPr lang="en-IN" sz="900">
                <a:solidFill>
                  <a:srgbClr val="F0F0F0"/>
                </a:solidFill>
                <a:latin typeface="Calibri"/>
              </a:rPr>
              <a:t>Column had values with 0 </a:t>
            </a:r>
            <a:endParaRPr sz="900">
              <a:solidFill>
                <a:srgbClr val="F0F0F0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87291" y="219456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lang="en-IN" sz="900">
                <a:solidFill>
                  <a:srgbClr val="FFFF00"/>
                </a:solidFill>
                <a:latin typeface="Calibri"/>
              </a:rPr>
              <a:t>“passengerCount” </a:t>
            </a:r>
            <a:r>
              <a:rPr lang="en-IN" sz="900">
                <a:solidFill>
                  <a:srgbClr val="F0F0F0"/>
                </a:solidFill>
                <a:latin typeface="Calibri"/>
              </a:rPr>
              <a:t>Column had “0” values</a:t>
            </a:r>
            <a:endParaRPr sz="900">
              <a:solidFill>
                <a:srgbClr val="F0F0F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5511" y="315468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lang="en-IN" sz="900">
                <a:solidFill>
                  <a:srgbClr val="FFFF00"/>
                </a:solidFill>
                <a:latin typeface="Calibri"/>
              </a:rPr>
              <a:t>“puLocationId”, “do</a:t>
            </a:r>
            <a:r>
              <a:rPr lang="en-IN" sz="900">
                <a:solidFill>
                  <a:srgbClr val="FFFF00"/>
                </a:solidFill>
              </a:rPr>
              <a:t>LocationId”,”pickupLatitude”,” pickupLongitude”,”dropoffLongitude”,”dropoffLongitude”  </a:t>
            </a:r>
            <a:r>
              <a:rPr lang="en-IN" sz="900">
                <a:solidFill>
                  <a:srgbClr val="F0F0F0"/>
                </a:solidFill>
              </a:rPr>
              <a:t>had NULL VALUES AROUND 40%.</a:t>
            </a:r>
            <a:endParaRPr sz="900">
              <a:solidFill>
                <a:srgbClr val="F0F0F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87291" y="315468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200">
                <a:solidFill>
                  <a:srgbClr val="F0F0F0"/>
                </a:solidFill>
              </a:defRPr>
            </a:pPr>
            <a:r>
              <a:rPr lang="en-US" sz="900" b="1">
                <a:solidFill>
                  <a:srgbClr val="FFFF00"/>
                </a:solidFill>
                <a:latin typeface="Calibri"/>
              </a:rPr>
              <a:t>“ehailFee” </a:t>
            </a:r>
            <a:r>
              <a:rPr lang="en-US" sz="900">
                <a:solidFill>
                  <a:srgbClr val="F0F0F0"/>
                </a:solidFill>
                <a:latin typeface="Calibri"/>
              </a:rPr>
              <a:t>Column is Completely NULL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9071" y="3154680"/>
            <a:ext cx="2468880" cy="754380"/>
          </a:xfrm>
          <a:prstGeom prst="roundRect">
            <a:avLst/>
          </a:prstGeom>
          <a:solidFill>
            <a:srgbClr val="1D2B5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r>
              <a:rPr lang="en-IN" sz="900" b="1">
                <a:solidFill>
                  <a:srgbClr val="FFFF00"/>
                </a:solidFill>
                <a:latin typeface="Calibri"/>
              </a:rPr>
              <a:t>“fareAmount”,”extra”,”mtaTax”,”ImprovementSurge”,”tipAmount”,”tollsAmount” </a:t>
            </a:r>
            <a:r>
              <a:rPr lang="en-IN" sz="900">
                <a:solidFill>
                  <a:srgbClr val="F0F0F0"/>
                </a:solidFill>
                <a:latin typeface="Calibri"/>
              </a:rPr>
              <a:t>Column had many NEGATIVE VALUES</a:t>
            </a:r>
            <a:endParaRPr sz="900">
              <a:solidFill>
                <a:srgbClr val="F0F0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 LAYER – TRANSFORMATIONS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649224"/>
            <a:ext cx="8595360" cy="475488"/>
          </a:xfrm>
          <a:prstGeom prst="rect">
            <a:avLst/>
          </a:prstGeom>
          <a:solidFill>
            <a:srgbClr val="1A4D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76,513,115  →  71,908,676 rows  (−4.7M rows removed by cleaning rules)</a:t>
            </a:r>
            <a:endParaRPr lang="en-US" sz="13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EB5E16A-8644-005E-D535-895E40EDE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70009"/>
            <a:ext cx="8663093" cy="3717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LAYER – STAR SCHEMA (DATA MODEL)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58368"/>
            <a:ext cx="87782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3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DATA ARCHITECTURE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58368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</a:t>
            </a:r>
            <a:r>
              <a:rPr lang="en-US" sz="1900" b="1" kern="0" spc="20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REPORT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– </a:t>
            </a:r>
            <a:r>
              <a:rPr lang="en-US" sz="1200" b="1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KPIs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0" y="6400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</a:t>
            </a:r>
            <a:r>
              <a:rPr lang="en-US" sz="1200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Date , WeekDay 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E8F09D-547A-D1CD-E92A-C6C7A9F4E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" y="960120"/>
            <a:ext cx="4389121" cy="3977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0B701-37A1-3EAB-CAD9-4F9AF4442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1" y="960120"/>
            <a:ext cx="4389119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AACD3-2D69-ECD7-FAE9-61FFB2E6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06FCBC-9A2E-52C9-7927-2B0236FEFE1E}"/>
              </a:ext>
            </a:extLst>
          </p:cNvPr>
          <p:cNvSpPr/>
          <p:nvPr/>
        </p:nvSpPr>
        <p:spPr>
          <a:xfrm>
            <a:off x="0" y="45720"/>
            <a:ext cx="914400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D5DA91-C20A-7C27-1F7F-4B1F87C2F24C}"/>
              </a:ext>
            </a:extLst>
          </p:cNvPr>
          <p:cNvSpPr/>
          <p:nvPr/>
        </p:nvSpPr>
        <p:spPr>
          <a:xfrm>
            <a:off x="365760" y="731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</a:t>
            </a:r>
            <a:r>
              <a:rPr lang="en-US" sz="1900" b="1" kern="0" spc="20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REPORT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91D746-3571-8ACF-8E84-6CCEC3BB5DEE}"/>
              </a:ext>
            </a:extLst>
          </p:cNvPr>
          <p:cNvSpPr/>
          <p:nvPr/>
        </p:nvSpPr>
        <p:spPr>
          <a:xfrm>
            <a:off x="274320" y="6400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– Heat Map And Top % Analysis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F3FC4-CCF2-FD81-8CA1-44C363CC7197}"/>
              </a:ext>
            </a:extLst>
          </p:cNvPr>
          <p:cNvSpPr/>
          <p:nvPr/>
        </p:nvSpPr>
        <p:spPr>
          <a:xfrm>
            <a:off x="4572000" y="6400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– Drill Table For Summary Analysis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4ED50-F8DB-C7EA-F48F-4328E09C3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8" y="960120"/>
            <a:ext cx="4493702" cy="3977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2E83E0-6E94-766B-5D53-ACCC3B7E2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078" y="960120"/>
            <a:ext cx="4364407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5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73152"/>
            <a:ext cx="8695944" cy="42062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3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METRICS &amp; INSIGHTS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685800"/>
            <a:ext cx="2057400" cy="1005840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71.91M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1325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2468880" y="685800"/>
            <a:ext cx="2057400" cy="1005840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31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$1.06B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325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4681728" y="685800"/>
            <a:ext cx="2057400" cy="1005840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731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$891.12 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81728" y="1325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Fare</a:t>
            </a:r>
            <a:endParaRPr lang="en-US" sz="1600" b="1" dirty="0"/>
          </a:p>
        </p:txBody>
      </p:sp>
      <p:sp>
        <p:nvSpPr>
          <p:cNvPr id="13" name="Shape 11"/>
          <p:cNvSpPr/>
          <p:nvPr/>
        </p:nvSpPr>
        <p:spPr>
          <a:xfrm>
            <a:off x="6894576" y="685800"/>
            <a:ext cx="2057400" cy="1005840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731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latin typeface="Arial Black" panose="020B0A04020102020204" pitchFamily="34" charset="0"/>
              </a:rPr>
              <a:t>210.72 M mi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94576" y="1325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/>
              <a:t>Total Distance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256032" y="1828800"/>
            <a:ext cx="283464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🕕  Peak </a:t>
            </a:r>
            <a:r>
              <a:rPr lang="en-US" sz="1200" b="1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18 (6 PM</a:t>
            </a: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4.9M trips – busiest hour. Evening rush (16–21h) = ~25% of all trips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18688" y="1828800"/>
            <a:ext cx="283464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Weekend Lead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28416" y="22860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17.91%, Friday 16.08%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weekends dominate trip volume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1828800"/>
            <a:ext cx="283464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Solo Riders Dominate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072" y="22860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83.99% single-passenger trips; 2-passenger at 7.6%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3337560"/>
            <a:ext cx="283464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290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  </a:t>
            </a: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Preferred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79476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30.12%,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mi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21.3%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trips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18688" y="3337560"/>
            <a:ext cx="283464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4290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Seasonal Peak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28416" y="379476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December(9.1%), May (9.02%), May (9.0%) are busiest months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3337560"/>
            <a:ext cx="283464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4290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Year: 2015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91072" y="379476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26.26%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trips in 2015; 2016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22.39%,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21.6%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82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🚕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2344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800" dirty="0">
                <a:solidFill>
                  <a:srgbClr val="F7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176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Anant Deotale  ·  NYC Taxi 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2697480"/>
            <a:ext cx="3291840" cy="36576"/>
          </a:xfrm>
          <a:prstGeom prst="rect">
            <a:avLst/>
          </a:prstGeom>
          <a:solidFill>
            <a:srgbClr val="F7C518"/>
          </a:solidFill>
          <a:ln w="12700">
            <a:solidFill>
              <a:srgbClr val="F7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76.5M rows → 71.9M after cleaning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2880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Bronze → Silver → Gold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192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1 Fact + 7 Dimension tables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33192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4 page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46227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·  Power BI  ·  Lakehouse  ·  Star Schema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383</Words>
  <Application>Microsoft Office PowerPoint</Application>
  <PresentationFormat>On-screen Show (16:9)</PresentationFormat>
  <Paragraphs>66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Analytics – Capstone</dc:title>
  <dc:subject>PptxGenJS Presentation</dc:subject>
  <dc:creator>Anurag Anant Deotale</dc:creator>
  <cp:lastModifiedBy>Anurag Deotale</cp:lastModifiedBy>
  <cp:revision>6</cp:revision>
  <dcterms:created xsi:type="dcterms:W3CDTF">2026-05-26T04:31:49Z</dcterms:created>
  <dcterms:modified xsi:type="dcterms:W3CDTF">2026-06-07T03:17:42Z</dcterms:modified>
</cp:coreProperties>
</file>